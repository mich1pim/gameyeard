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8" r:id="rId4"/>
    <p:sldId id="261" r:id="rId5"/>
    <p:sldId id="272" r:id="rId6"/>
    <p:sldId id="273" r:id="rId7"/>
    <p:sldId id="276" r:id="rId8"/>
    <p:sldId id="275" r:id="rId9"/>
    <p:sldId id="274" r:id="rId10"/>
    <p:sldId id="268" r:id="rId11"/>
    <p:sldId id="270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 userDrawn="1">
          <p15:clr>
            <a:srgbClr val="A4A3A4"/>
          </p15:clr>
        </p15:guide>
        <p15:guide id="2" pos="7355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  <p15:guide id="4" pos="5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оминика Демент" initials="ДД" lastIdx="1" clrIdx="0">
    <p:extLst>
      <p:ext uri="{19B8F6BF-5375-455C-9EA6-DF929625EA0E}">
        <p15:presenceInfo xmlns:p15="http://schemas.microsoft.com/office/powerpoint/2012/main" userId="e4589cbf1828f75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761"/>
    <a:srgbClr val="64748B"/>
    <a:srgbClr val="217CC0"/>
    <a:srgbClr val="FFFFFF"/>
    <a:srgbClr val="157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5" autoAdjust="0"/>
    <p:restoredTop sz="86427" autoAdjust="0"/>
  </p:normalViewPr>
  <p:slideViewPr>
    <p:cSldViewPr snapToGrid="0">
      <p:cViewPr varScale="1">
        <p:scale>
          <a:sx n="98" d="100"/>
          <a:sy n="98" d="100"/>
        </p:scale>
        <p:origin x="1230" y="84"/>
      </p:cViewPr>
      <p:guideLst>
        <p:guide orient="horz" pos="3974"/>
        <p:guide pos="7355"/>
        <p:guide orient="horz" pos="255"/>
        <p:guide pos="50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66161A-E909-4AFA-BE53-8E7984342E29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573CD-25A5-4F51-A06F-70727EA1CC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434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1573CD-25A5-4F51-A06F-70727EA1CC3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077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573CD-25A5-4F51-A06F-70727EA1CC3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583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65244-DBF4-ED07-0FBF-F894B5A13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CA3F4BD-4C77-E39A-1ADB-39B726108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15F375D-220C-C7FB-792E-53C2B0BC1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9E6A57-74E6-8F59-478A-F189D0A135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573CD-25A5-4F51-A06F-70727EA1CC3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9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:a16="http://schemas.microsoft.com/office/drawing/2014/main" id="{BC131F45-EAE1-4BA2-9500-A40BD4BA7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:a16="http://schemas.microsoft.com/office/drawing/2014/main" id="{EFD76455-8388-488E-9186-9B332938A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тки 1">
            <a:extLst>
              <a:ext uri="{FF2B5EF4-FFF2-40B4-BE49-F238E27FC236}">
                <a16:creationId xmlns:a16="http://schemas.microsoft.com/office/drawing/2014/main" id="{B0B889CF-3A9D-4D35-BF29-46741623EF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AB4D3-784D-F90B-3E97-732896A4C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149F94-51D7-B8DE-25B1-28595AF81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689C96D-CF35-C188-7C21-9D4A68204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386BC6-4DD5-DFA3-8DFD-736AB5AE2C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573CD-25A5-4F51-A06F-70727EA1CC3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19092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B59CC-3DB1-A64C-E62B-22D2231A2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00EE653-996F-C334-671D-32F50D08F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64C2B2-9AA7-6DC3-54B6-232BF1F77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1F97220-F0D8-D9A9-FAB4-CF8812893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573CD-25A5-4F51-A06F-70727EA1CC3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7157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25441-F926-1511-651B-BE3DF91E9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20A7BBB-FF38-1C35-92EE-A9602FD026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B599799-4FCC-A9C7-1BB8-B6A1E111C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123582-8E89-27E6-AC18-18F013A7DC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573CD-25A5-4F51-A06F-70727EA1CC3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2230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EC11D-0D75-4470-D9B6-CA66EBF80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AA4DDC8-A807-C6E6-54EA-BA03519EF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940F0D2-C6D3-ABE4-AF95-0366FE54D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AA1443-EAB9-AE3F-8DB6-B77F92551A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573CD-25A5-4F51-A06F-70727EA1CC3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520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1573CD-25A5-4F51-A06F-70727EA1CC3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8057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7BDA-82DA-48CA-B8C4-7430D4AA42F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7523-2D45-4CA7-A9E0-8085BB341D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198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2733" y="541867"/>
            <a:ext cx="10803467" cy="1148821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2733" y="1825624"/>
            <a:ext cx="10803467" cy="45307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7BDA-82DA-48CA-B8C4-7430D4AA42F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7523-2D45-4CA7-A9E0-8085BB341D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3758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7BDA-82DA-48CA-B8C4-7430D4AA42F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7523-2D45-4CA7-A9E0-8085BB341D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82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2733" y="550333"/>
            <a:ext cx="10803467" cy="1140355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02733" y="1825625"/>
            <a:ext cx="5317067" cy="446510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334000" cy="446510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7BDA-82DA-48CA-B8C4-7430D4AA42F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7523-2D45-4CA7-A9E0-8085BB341D6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Прямая соединительная линия 8"/>
          <p:cNvCxnSpPr/>
          <p:nvPr userDrawn="1"/>
        </p:nvCxnSpPr>
        <p:spPr>
          <a:xfrm flipH="1">
            <a:off x="6062132" y="550333"/>
            <a:ext cx="8467" cy="5806017"/>
          </a:xfrm>
          <a:prstGeom prst="line">
            <a:avLst/>
          </a:prstGeom>
          <a:ln w="5715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579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550333"/>
            <a:ext cx="10515600" cy="1140355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7BDA-82DA-48CA-B8C4-7430D4AA42F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7523-2D45-4CA7-A9E0-8085BB341D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11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799" y="550333"/>
            <a:ext cx="10854267" cy="1140355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7BDA-82DA-48CA-B8C4-7430D4AA42F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7523-2D45-4CA7-A9E0-8085BB341D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472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7BDA-82DA-48CA-B8C4-7430D4AA42F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7523-2D45-4CA7-A9E0-8085BB341D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48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7BDA-82DA-48CA-B8C4-7430D4AA42F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7523-2D45-4CA7-A9E0-8085BB341D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606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7BDA-82DA-48CA-B8C4-7430D4AA42F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7523-2D45-4CA7-A9E0-8085BB341D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14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7BDA-82DA-48CA-B8C4-7430D4AA42F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7523-2D45-4CA7-A9E0-8085BB341D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7595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07BDA-82DA-48CA-B8C4-7430D4AA42F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97523-2D45-4CA7-A9E0-8085BB341D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51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02733" y="541867"/>
            <a:ext cx="10803467" cy="11488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02733" y="1825624"/>
            <a:ext cx="10803467" cy="453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07BDA-82DA-48CA-B8C4-7430D4AA42FE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97523-2D45-4CA7-A9E0-8085BB341D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626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21150" y="1988819"/>
            <a:ext cx="11154913" cy="2046923"/>
          </a:xfrm>
        </p:spPr>
        <p:txBody>
          <a:bodyPr anchor="ctr">
            <a:normAutofit fontScale="90000"/>
          </a:bodyPr>
          <a:lstStyle/>
          <a:p>
            <a:r>
              <a:rPr lang="ru-RU" sz="4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Дипломный проект</a:t>
            </a:r>
            <a:br>
              <a:rPr lang="ru-RU" sz="4800" dirty="0"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ru-RU" sz="4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«</a:t>
            </a:r>
            <a:r>
              <a:rPr lang="ru-RU" sz="4800" dirty="0">
                <a:solidFill>
                  <a:srgbClr val="217CC0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Разработка изометрической 2D-игры с системой исследования окружающего мира</a:t>
            </a:r>
            <a:r>
              <a:rPr lang="ru-RU" sz="4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»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87340" y="4476159"/>
            <a:ext cx="6593523" cy="225384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Выполнил:</a:t>
            </a:r>
            <a:r>
              <a:rPr lang="ru-RU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ru-RU" sz="2000" dirty="0">
                <a:solidFill>
                  <a:srgbClr val="217CC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Прохоров Илья Михайлович</a:t>
            </a:r>
          </a:p>
          <a:p>
            <a:pPr algn="l">
              <a:lnSpc>
                <a:spcPct val="100000"/>
              </a:lnSpc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Квалификация: информационные системы и программирование</a:t>
            </a:r>
          </a:p>
          <a:p>
            <a:pPr algn="l">
              <a:lnSpc>
                <a:spcPct val="100000"/>
              </a:lnSpc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Группа</a:t>
            </a:r>
            <a:r>
              <a:rPr lang="ru-RU" sz="20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ru-RU" sz="2000" dirty="0">
                <a:solidFill>
                  <a:srgbClr val="217CC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ИП1-22</a:t>
            </a:r>
          </a:p>
          <a:p>
            <a:pPr algn="l">
              <a:lnSpc>
                <a:spcPct val="100000"/>
              </a:lnSpc>
            </a:pPr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Руководитель: Воронцов Алексей Андреевич</a:t>
            </a:r>
            <a:endParaRPr lang="ru-RU" sz="2000" dirty="0">
              <a:solidFill>
                <a:srgbClr val="217CC0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63525" y="199219"/>
            <a:ext cx="1257742" cy="12577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06039" y="339560"/>
            <a:ext cx="954013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Санкт-Петербургское государственное бюджетное </a:t>
            </a:r>
          </a:p>
          <a:p>
            <a:pPr algn="ctr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профессиональное образовательное учреждение </a:t>
            </a:r>
          </a:p>
          <a:p>
            <a:pPr algn="ctr"/>
            <a:r>
              <a:rPr lang="ru-RU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«Колледж судостроения, информационных и прикладных технологий»</a:t>
            </a:r>
          </a:p>
          <a:p>
            <a:endParaRPr lang="ru-RU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20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73152" cy="5486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32004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078992"/>
            <a:ext cx="3200400" cy="618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200 млрд $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365760" y="1695298"/>
            <a:ext cx="320040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рынка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2025 году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749040" y="1005840"/>
            <a:ext cx="3200400" cy="1188720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49040" y="1078992"/>
            <a:ext cx="3200400" cy="618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749040" y="1695298"/>
            <a:ext cx="320040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Unity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рынке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132320" y="1005840"/>
            <a:ext cx="4297680" cy="1188720"/>
          </a:xfrm>
          <a:prstGeom prst="rect">
            <a:avLst/>
          </a:prstGeom>
          <a:solidFill>
            <a:srgbClr val="38A89D"/>
          </a:solidFill>
          <a:ln w="12700">
            <a:solidFill>
              <a:srgbClr val="38A89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1078992"/>
            <a:ext cx="4297680" cy="618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Инди-сегмент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132320" y="1695298"/>
            <a:ext cx="429768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наибольший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 роста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65760" y="2377440"/>
            <a:ext cx="55778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377440"/>
            <a:ext cx="557784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0352" y="2514600"/>
            <a:ext cx="292608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4963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индустрии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30352" y="288036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мировой игровой индустрии в 2025 году превысил 200 млрд долларов, при этом сегмент инди-игр демонстрирует наибольший темп развития.</a:t>
            </a: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6172200" y="2377440"/>
            <a:ext cx="55778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2377440"/>
            <a:ext cx="5577840" cy="54864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36792" y="2514600"/>
            <a:ext cx="292608" cy="292608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20840" y="249631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 на инди-игры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336792" y="288036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платформах Steam, Epic Games Store и Nintendo eShop особую значимость приобретают проекты, сочетающие доступность геймплея и игровые механики.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365760" y="4297680"/>
            <a:ext cx="55778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65760" y="4297680"/>
            <a:ext cx="5577840" cy="54864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30352" y="4434840"/>
            <a:ext cx="292608" cy="292608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44165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Доминирование Unity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530352" y="480060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Движок Unity занимает более 50% рынка игровой разработки, что делает его освоение критически важным для специалистов в области программной инженерии.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6172200" y="4297680"/>
            <a:ext cx="55778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172200" y="4297680"/>
            <a:ext cx="5577840" cy="54864"/>
          </a:xfrm>
          <a:prstGeom prst="rect">
            <a:avLst/>
          </a:prstGeom>
          <a:solidFill>
            <a:srgbClr val="38A89D"/>
          </a:solidFill>
          <a:ln w="12700">
            <a:solidFill>
              <a:srgbClr val="38A89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336792" y="4434840"/>
            <a:ext cx="292608" cy="292608"/>
          </a:xfrm>
          <a:prstGeom prst="rect">
            <a:avLst/>
          </a:prstGeom>
          <a:solidFill>
            <a:srgbClr val="38A89D"/>
          </a:solidFill>
          <a:ln w="12700">
            <a:solidFill>
              <a:srgbClr val="38A89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20840" y="44165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Гибридные жанры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336792" y="4800600"/>
            <a:ext cx="5257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изометрической 2D-игры с системой исследования, создания предметов и фермерского хозяйства отвечает тенденциям развития гибридных жанров и образовательного геймдизайна.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73152" cy="5486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 задачи проекта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5029200" cy="5623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05840"/>
            <a:ext cx="50292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097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50876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изометрической 2D-игры с системой исследования окружающего мира на базе игрового движка Unity.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3977640"/>
            <a:ext cx="4663440" cy="9144"/>
          </a:xfrm>
          <a:prstGeom prst="rect">
            <a:avLst/>
          </a:prstGeom>
          <a:solidFill>
            <a:srgbClr val="38A89D"/>
          </a:solidFill>
          <a:ln w="12700">
            <a:solidFill>
              <a:srgbClr val="38A89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069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исследования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48640" y="440740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источников, ООП, прототипирование, функциональное и нагрузочное тестирование.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669280" y="1005840"/>
            <a:ext cx="6126480" cy="5623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0" y="1005840"/>
            <a:ext cx="612648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0" y="10972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52160" y="1545336"/>
            <a:ext cx="347472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15453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09360" y="138988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анализ современных подходов к разработке изометрических 2D-игр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852160" y="2368296"/>
            <a:ext cx="347472" cy="347472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0" y="2368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09360" y="221284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Спроектировать архитектуру игрового приложения и систему исследования мира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5852160" y="3191256"/>
            <a:ext cx="347472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3191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309360" y="303580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ключевые игровые механизмы: инвентарь, создание предметов, добычу ресурсов</a:t>
            </a:r>
            <a:endParaRPr lang="en-US" dirty="0"/>
          </a:p>
        </p:txBody>
      </p:sp>
      <p:sp>
        <p:nvSpPr>
          <p:cNvPr id="24" name="Shape 21"/>
          <p:cNvSpPr/>
          <p:nvPr/>
        </p:nvSpPr>
        <p:spPr>
          <a:xfrm>
            <a:off x="5852160" y="4014216"/>
            <a:ext cx="347472" cy="347472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52160" y="40142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09360" y="385876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систему визуального представления изометрической проекции</a:t>
            </a: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5852160" y="4837176"/>
            <a:ext cx="347472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52160" y="48371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309360" y="468172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систему времени суток и ИИ животных</a:t>
            </a:r>
            <a:endParaRPr lang="en-US" dirty="0"/>
          </a:p>
        </p:txBody>
      </p:sp>
      <p:sp>
        <p:nvSpPr>
          <p:cNvPr id="30" name="Shape 27"/>
          <p:cNvSpPr/>
          <p:nvPr/>
        </p:nvSpPr>
        <p:spPr>
          <a:xfrm>
            <a:off x="5852160" y="5660136"/>
            <a:ext cx="347472" cy="347472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52160" y="56601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309360" y="550468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Протестировать игровой процесс и оптимизировать производительность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Теоретическое исследование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технологии и концепции проекта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54864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43000"/>
            <a:ext cx="54864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12710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Unity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30352" y="16002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Компонентно-ориентированный подход: GameObject + Components. Паттерны: Singleton для менеджеров, ScriptableObject для данных.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989320" y="1143000"/>
            <a:ext cx="54864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989320" y="1143000"/>
            <a:ext cx="54864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127101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Изометрическая проекция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153912" y="160020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Поворот 45° по Y, 35,26° по X. Соотношение </a:t>
            </a: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пикселей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2:1.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65760" y="2724912"/>
            <a:ext cx="54864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724912"/>
            <a:ext cx="54864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" y="28529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ScriptableObject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530352" y="3182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игровых данных как ассеты: предметы (Item.cs), рецепты (CraftRecipe.cs). Разделение данных и логики.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989320" y="2724912"/>
            <a:ext cx="54864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989320" y="2724912"/>
            <a:ext cx="54864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53912" y="28529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Input System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153912" y="3182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Событийная модель ввода. Action Maps для группировки действий. Мультиплатформенность, генерация C# кода.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365760" y="4306824"/>
            <a:ext cx="54864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4306824"/>
            <a:ext cx="54864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" y="4434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 и ИИ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30352" y="476402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NavMesh + алгоритм поиска пути. Конечный автомат состояний для поведения животных (Idle → Roaming).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5989320" y="4306824"/>
            <a:ext cx="54864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989320" y="4306824"/>
            <a:ext cx="548640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53912" y="4434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 и анимация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153912" y="476402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Physics2D (Box2D): Rigidbody2D, Collider2D. Animator Controller для управления анимациями персонажей.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Техническое задание и архитектура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исследование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52120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2618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требования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1773936"/>
            <a:ext cx="201168" cy="20116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17373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исследования открытого мира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2249424"/>
            <a:ext cx="201168" cy="20116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2128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Экономическая модель торговли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2724912"/>
            <a:ext cx="201168" cy="20116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6883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создания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(сетка 3×3)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201168" cy="20116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16382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Динамическая смена времени суток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" y="3675888"/>
            <a:ext cx="201168" cy="20116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36393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сохранения и загрузки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4151376"/>
            <a:ext cx="201168" cy="20116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41148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Боевая система и враждебные существа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48640" y="4626864"/>
            <a:ext cx="201168" cy="20116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45902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Диалоги и </a:t>
            </a:r>
            <a:r>
              <a:rPr lang="ru-RU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заданий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NPC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5943600" y="1143000"/>
            <a:ext cx="585216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126480" y="12618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Архитектурные паттерны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6126480" y="1691640"/>
            <a:ext cx="2743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0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92240" y="16916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492240" y="189280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InventoryManager, CraftingManager, GlobalTime, Player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126480" y="2304288"/>
            <a:ext cx="274320" cy="274320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26480" y="2304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492240" y="23042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ScriptableObject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492240" y="250545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Item.cs, CraftRecipe.cs — хранение данных отдельно от логики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126480" y="2916936"/>
            <a:ext cx="274320" cy="2743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26480" y="2916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492240" y="291693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Компонентная композиция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6492240" y="3118104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Игровые объекты строятся из набора компонентов Unity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5943600" y="3749040"/>
            <a:ext cx="5852160" cy="2606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2648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6126480" y="4288536"/>
            <a:ext cx="137160" cy="2743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55080" y="42519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2022.x LTS</a:t>
            </a: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8961120" y="42519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игровой движок</a:t>
            </a: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6126480" y="4745736"/>
            <a:ext cx="137160" cy="2743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55080" y="47091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Visual Studio</a:t>
            </a: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8961120" y="47091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программирования</a:t>
            </a:r>
            <a:endParaRPr lang="en-US" dirty="0"/>
          </a:p>
        </p:txBody>
      </p:sp>
      <p:sp>
        <p:nvSpPr>
          <p:cNvPr id="46" name="Shape 43"/>
          <p:cNvSpPr/>
          <p:nvPr/>
        </p:nvSpPr>
        <p:spPr>
          <a:xfrm>
            <a:off x="6126480" y="5202936"/>
            <a:ext cx="137160" cy="2743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355080" y="51663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8961120" y="5166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версий</a:t>
            </a:r>
            <a:endParaRPr lang="en-US" dirty="0"/>
          </a:p>
        </p:txBody>
      </p:sp>
      <p:sp>
        <p:nvSpPr>
          <p:cNvPr id="49" name="Shape 46"/>
          <p:cNvSpPr/>
          <p:nvPr/>
        </p:nvSpPr>
        <p:spPr>
          <a:xfrm>
            <a:off x="6126480" y="5660136"/>
            <a:ext cx="137160" cy="2743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355080" y="56235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Aseprite + Photoshop</a:t>
            </a:r>
            <a:endParaRPr lang="en-US" dirty="0"/>
          </a:p>
        </p:txBody>
      </p:sp>
      <p:sp>
        <p:nvSpPr>
          <p:cNvPr id="51" name="Text 48"/>
          <p:cNvSpPr/>
          <p:nvPr/>
        </p:nvSpPr>
        <p:spPr>
          <a:xfrm>
            <a:off x="8961120" y="56235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графический контент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Пользовательский интерфейс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меню, HUD, система навигации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539496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43000"/>
            <a:ext cx="53949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143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меню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1645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Центральный хаб с интуитивной навигацией и уютной визуальной стилистикой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2148840"/>
            <a:ext cx="4480560" cy="384048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14884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игра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2651760"/>
            <a:ext cx="448056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65176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Загрузить игру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3154680"/>
            <a:ext cx="448056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15468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3657600"/>
            <a:ext cx="448056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65760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251960"/>
            <a:ext cx="50292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Меню паузы (Escape)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48640" y="48234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Приостановка времени, сохранение, загрузка, выход в меню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6126480" y="1143000"/>
            <a:ext cx="56692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26480" y="1143000"/>
            <a:ext cx="5669280" cy="411480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6364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Игровой интерфейс (HUD)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309360" y="16459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Минималистичный слой с критически важными данными в реальном времени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309360" y="2194560"/>
            <a:ext cx="3200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20840" y="2148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инвентаря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6720840" y="23591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Динамическая сетка слотов с drag-and-drop системой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309360" y="3017520"/>
            <a:ext cx="3200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20840" y="2971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здоровья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720840" y="3182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Шкала HP с плавной анимацией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309360" y="3840480"/>
            <a:ext cx="3200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720840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 денег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720840" y="4005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Экономические показатели в реальном времени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309360" y="4663440"/>
            <a:ext cx="3200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2084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времени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6720840" y="48280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Циферблат, фаза суток, погода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309360" y="5486400"/>
            <a:ext cx="3200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20840" y="5440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Миникарта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6720840" y="5715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Топография с маркером игрока. 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инвентаря и крафта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исследование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43000"/>
            <a:ext cx="54864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43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инвентаря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16459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Хранение, управление предметами и инструментами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084832"/>
            <a:ext cx="5120640" cy="65836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1396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InventoryManager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13232" y="2377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 Singleton. Метод AddItem() с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проверкой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стопки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(макс. 64 ед.)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889504"/>
            <a:ext cx="5120640" cy="65836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294436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13232" y="31821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Интерфейсы IBeginDragHandler, IDragHandler, IEndDragHandler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694176"/>
            <a:ext cx="5120640" cy="658368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374904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Горячая панель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713232" y="39867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слотов быстрого доступа (клавиши 1–5) для инструментов и предметов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17920" y="1143000"/>
            <a:ext cx="557784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17920" y="1143000"/>
            <a:ext cx="5577840" cy="411480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0" y="11430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крафта (сетка 3×3)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400800" y="164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предметов с алгоритмом нормализации рецептов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400800" y="2057400"/>
            <a:ext cx="457200" cy="457200"/>
          </a:xfrm>
          <a:prstGeom prst="rect">
            <a:avLst/>
          </a:prstGeom>
          <a:solidFill>
            <a:srgbClr val="4ECDC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94576" y="2057400"/>
            <a:ext cx="457200" cy="457200"/>
          </a:xfrm>
          <a:prstGeom prst="rect">
            <a:avLst/>
          </a:prstGeom>
          <a:solidFill>
            <a:srgbClr val="4ECDC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388352" y="2057400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2551176"/>
            <a:ext cx="457200" cy="457200"/>
          </a:xfrm>
          <a:prstGeom prst="rect">
            <a:avLst/>
          </a:prstGeom>
          <a:solidFill>
            <a:srgbClr val="4ECDC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94576" y="2551176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88352" y="2551176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00800" y="3044952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894576" y="3044952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388352" y="3044952"/>
            <a:ext cx="4572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973568" y="2304288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27848" y="227959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8430768" y="2279599"/>
            <a:ext cx="54864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0" y="3657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Нормализация рецепта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6400800" y="39502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 bounding box → смещение к левому верхнему углу. Позволяет распознавать рецепт в любой позиции сетки.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400800" y="4553712"/>
            <a:ext cx="5303520" cy="420624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65392" y="4608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Доски</a:t>
            </a: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8823960" y="46085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дерево → 4 доски</a:t>
            </a:r>
            <a:endParaRPr lang="en-US" dirty="0"/>
          </a:p>
        </p:txBody>
      </p:sp>
      <p:sp>
        <p:nvSpPr>
          <p:cNvPr id="40" name="Shape 37"/>
          <p:cNvSpPr/>
          <p:nvPr/>
        </p:nvSpPr>
        <p:spPr>
          <a:xfrm>
            <a:off x="6400800" y="5065776"/>
            <a:ext cx="5303520" cy="420624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65392" y="5120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Каменная кирка</a:t>
            </a: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8823960" y="5120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камня + 2 дерева</a:t>
            </a:r>
            <a:endParaRPr lang="en-US" dirty="0"/>
          </a:p>
        </p:txBody>
      </p:sp>
      <p:sp>
        <p:nvSpPr>
          <p:cNvPr id="43" name="Shape 40"/>
          <p:cNvSpPr/>
          <p:nvPr/>
        </p:nvSpPr>
        <p:spPr>
          <a:xfrm>
            <a:off x="6400800" y="5577840"/>
            <a:ext cx="5303520" cy="420624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65392" y="5632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Каменный топор</a:t>
            </a: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8823960" y="56327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камня + 2 дерева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Добыча ресурсов, время суток и ИИ животных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исследование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356616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43000"/>
            <a:ext cx="35661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430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Добыча ресурсов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1746504"/>
            <a:ext cx="347472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7465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1792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AppleTree (Яблоня)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48640" y="220370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Стадии: саженец -&gt; дерево. Сбор (E), рубка топором, </a:t>
            </a:r>
            <a:r>
              <a:rPr lang="ru-RU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 сек.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548640" y="3255264"/>
            <a:ext cx="347472" cy="347472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2552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05840" y="33009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Bush (Куст ягод)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48640" y="371246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привязан к игровому времени. Автовосстановление ягод.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548640" y="4764024"/>
            <a:ext cx="347472" cy="347472"/>
          </a:xfrm>
          <a:prstGeom prst="rect">
            <a:avLst/>
          </a:prstGeom>
          <a:solidFill>
            <a:srgbClr val="38A89D"/>
          </a:solidFill>
          <a:ln w="12700">
            <a:solidFill>
              <a:srgbClr val="38A89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7640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05840" y="480974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(Камень)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48640" y="522122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Добыча киркой. Система здоровья объекта + </a:t>
            </a:r>
            <a:r>
              <a:rPr lang="ru-RU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добыча ресурсов</a:t>
            </a:r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4251960" y="1143000"/>
            <a:ext cx="374904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251960" y="1143000"/>
            <a:ext cx="3749040" cy="411480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434840" y="1143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времени суток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4434840" y="1691640"/>
            <a:ext cx="1554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434840" y="1764792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мин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4434840" y="22402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игровой цикл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172200" y="1691640"/>
            <a:ext cx="1645920" cy="914400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72200" y="17647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сек:мин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ускорение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434840" y="2743200"/>
            <a:ext cx="3383280" cy="71323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80560" y="2889504"/>
            <a:ext cx="320040" cy="320040"/>
          </a:xfrm>
          <a:prstGeom prst="rect">
            <a:avLst/>
          </a:prstGeom>
          <a:solidFill>
            <a:srgbClr val="E8D44D"/>
          </a:solidFill>
          <a:ln w="12700">
            <a:solidFill>
              <a:srgbClr val="E8D44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92040" y="29169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Утро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6263640" y="2926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06:00-11:59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434840" y="3621024"/>
            <a:ext cx="338328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480560" y="3767328"/>
            <a:ext cx="32004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9204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6263640" y="38039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12:00-17:59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434840" y="4498848"/>
            <a:ext cx="3383280" cy="713232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480560" y="4645152"/>
            <a:ext cx="320040" cy="3200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92040" y="46725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Вечер</a:t>
            </a:r>
            <a:endParaRPr lang="en-US" sz="2000" dirty="0"/>
          </a:p>
        </p:txBody>
      </p:sp>
      <p:sp>
        <p:nvSpPr>
          <p:cNvPr id="41" name="Text 38"/>
          <p:cNvSpPr/>
          <p:nvPr/>
        </p:nvSpPr>
        <p:spPr>
          <a:xfrm>
            <a:off x="6263640" y="4681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18:00-21:59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4434840" y="5376672"/>
            <a:ext cx="3383280" cy="71323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480560" y="5522976"/>
            <a:ext cx="3200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892040" y="5550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Ночь</a:t>
            </a:r>
            <a:endParaRPr lang="en-US" sz="2000" dirty="0"/>
          </a:p>
        </p:txBody>
      </p:sp>
      <p:sp>
        <p:nvSpPr>
          <p:cNvPr id="45" name="Text 42"/>
          <p:cNvSpPr/>
          <p:nvPr/>
        </p:nvSpPr>
        <p:spPr>
          <a:xfrm>
            <a:off x="6263640" y="5559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22:00-05:59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321040" y="1143000"/>
            <a:ext cx="347472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8321040" y="1143000"/>
            <a:ext cx="3474720" cy="411480"/>
          </a:xfrm>
          <a:prstGeom prst="rect">
            <a:avLst/>
          </a:prstGeom>
          <a:solidFill>
            <a:srgbClr val="38A89D"/>
          </a:solidFill>
          <a:ln w="12700">
            <a:solidFill>
              <a:srgbClr val="38A89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503920" y="1143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 животных</a:t>
            </a:r>
            <a:endParaRPr lang="en-US" sz="2000" dirty="0"/>
          </a:p>
        </p:txBody>
      </p:sp>
      <p:sp>
        <p:nvSpPr>
          <p:cNvPr id="49" name="Text 46"/>
          <p:cNvSpPr/>
          <p:nvPr/>
        </p:nvSpPr>
        <p:spPr>
          <a:xfrm>
            <a:off x="850392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NavMesh 2D + конечный автомат состояний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503920" y="2148840"/>
            <a:ext cx="32004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668512" y="22037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668511" y="2459736"/>
            <a:ext cx="31286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секунд ожидания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8503920" y="3017520"/>
            <a:ext cx="3200400" cy="685800"/>
          </a:xfrm>
          <a:prstGeom prst="rect">
            <a:avLst/>
          </a:prstGeom>
          <a:solidFill>
            <a:srgbClr val="EEF2FF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668512" y="30723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668511" y="3328416"/>
            <a:ext cx="31286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Случайная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</a:t>
            </a:r>
            <a:r>
              <a:rPr lang="ru-RU" sz="1600" dirty="0"/>
              <a:t> </a:t>
            </a:r>
            <a:r>
              <a:rPr lang="en-US" sz="16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NavMesh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10058400" y="2798064"/>
            <a:ext cx="457200" cy="228600"/>
          </a:xfrm>
          <a:prstGeom prst="rect">
            <a:avLst/>
          </a:prstGeom>
          <a:solidFill>
            <a:srgbClr val="38A89D"/>
          </a:solidFill>
          <a:ln w="12700">
            <a:solidFill>
              <a:srgbClr val="38A89D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058400" y="277977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58" name="Shape 55"/>
          <p:cNvSpPr/>
          <p:nvPr/>
        </p:nvSpPr>
        <p:spPr>
          <a:xfrm>
            <a:off x="8503920" y="3886200"/>
            <a:ext cx="3200400" cy="86868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577072" y="4069080"/>
            <a:ext cx="3200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577072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endParaRPr lang="en-US" sz="1100" dirty="0"/>
          </a:p>
        </p:txBody>
      </p:sp>
      <p:sp>
        <p:nvSpPr>
          <p:cNvPr id="61" name="Text 58"/>
          <p:cNvSpPr/>
          <p:nvPr/>
        </p:nvSpPr>
        <p:spPr>
          <a:xfrm>
            <a:off x="8979408" y="3959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Chiken.cs (Курица)</a:t>
            </a: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8979408" y="423367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Откладывание яиц</a:t>
            </a:r>
            <a:endParaRPr lang="en-US" sz="1600" dirty="0"/>
          </a:p>
          <a:p>
            <a:pPr marL="0" indent="0">
              <a:buNone/>
            </a:pPr>
            <a:r>
              <a:rPr lang="ru-RU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появление</a:t>
            </a: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предмета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8503920" y="4983480"/>
            <a:ext cx="3200400" cy="86868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577072" y="5166360"/>
            <a:ext cx="3200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577072" y="5166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</a:t>
            </a:r>
            <a:endParaRPr lang="en-US" sz="1100" dirty="0"/>
          </a:p>
        </p:txBody>
      </p:sp>
      <p:sp>
        <p:nvSpPr>
          <p:cNvPr id="66" name="Text 63"/>
          <p:cNvSpPr/>
          <p:nvPr/>
        </p:nvSpPr>
        <p:spPr>
          <a:xfrm>
            <a:off x="8979408" y="5056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Cow.cs (Корова)</a:t>
            </a:r>
            <a:endParaRPr lang="en-US" dirty="0"/>
          </a:p>
        </p:txBody>
      </p:sp>
      <p:sp>
        <p:nvSpPr>
          <p:cNvPr id="67" name="Text 64"/>
          <p:cNvSpPr/>
          <p:nvPr/>
        </p:nvSpPr>
        <p:spPr>
          <a:xfrm>
            <a:off x="8979408" y="5330952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Базовое поведение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AnimalWalk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Интерактивные объекты и тестирование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исследование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566928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143000"/>
            <a:ext cx="56692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430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Интерактивные объекты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48640" y="16459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объекты наследуются от UsingAllObject.cs с методами Use() и UnUse()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084832"/>
            <a:ext cx="5303520" cy="59436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157984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396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Chest.cs (Сундук)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97280" y="23865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Собственный инвентарь для хранения. Автоматическое закрытие при отдалении игрока.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2798064"/>
            <a:ext cx="5303520" cy="59436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2871216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28529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Door.cs (Дверь)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Переключение состояний open/close с анимацией через Animator Controller.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3511296"/>
            <a:ext cx="5303520" cy="59436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0080" y="3584448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35661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ShopInteraction.cs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097280" y="3813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магазина с полноценной системой купли-продажи предметов.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4224528"/>
            <a:ext cx="5303520" cy="59436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4297680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97280" y="42793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RoofHouse.cs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09728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Эффект «кукольного домика» — скрытие крыши при входе игрока в здание.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4937760"/>
            <a:ext cx="5303520" cy="59436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5010912"/>
            <a:ext cx="365760" cy="365760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97280" y="49926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Боевая система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1097280" y="5239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Враждебные существа с HP, атакой и поведением. Система смерти и возрождения игрока.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48640" y="5650992"/>
            <a:ext cx="5303520" cy="59436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0080" y="5724144"/>
            <a:ext cx="365760" cy="365760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97280" y="57058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Диалоги и квесты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1097280" y="5952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Диалоговая система NPC. Квесты с постановкой и отслеживанием выполнения.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6309360" y="114300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309360" y="1143000"/>
            <a:ext cx="5486400" cy="411480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92240" y="1143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6492240" y="1664208"/>
            <a:ext cx="23774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92240" y="1737360"/>
            <a:ext cx="237744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ч</a:t>
            </a:r>
            <a:endParaRPr lang="en-US" sz="3200" dirty="0"/>
          </a:p>
        </p:txBody>
      </p:sp>
      <p:sp>
        <p:nvSpPr>
          <p:cNvPr id="39" name="Text 36"/>
          <p:cNvSpPr/>
          <p:nvPr/>
        </p:nvSpPr>
        <p:spPr>
          <a:xfrm>
            <a:off x="6492240" y="2267712"/>
            <a:ext cx="23774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нагрузочная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сессия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144000" y="1664208"/>
            <a:ext cx="2377440" cy="1005840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144000" y="1737360"/>
            <a:ext cx="237744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FPS</a:t>
            </a:r>
            <a:endParaRPr lang="en-US" sz="3200" dirty="0"/>
          </a:p>
        </p:txBody>
      </p:sp>
      <p:sp>
        <p:nvSpPr>
          <p:cNvPr id="42" name="Text 39"/>
          <p:cNvSpPr/>
          <p:nvPr/>
        </p:nvSpPr>
        <p:spPr>
          <a:xfrm>
            <a:off x="9144000" y="2267712"/>
            <a:ext cx="2377440" cy="3822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стабильно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протяжении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92240" y="279806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Функциональное тестирование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492240" y="3236976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92240" y="323697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Text 43"/>
          <p:cNvSpPr/>
          <p:nvPr/>
        </p:nvSpPr>
        <p:spPr>
          <a:xfrm>
            <a:off x="6803136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8229600" y="3218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WASD, анимации Idle/Walk/Attack — пройдено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492240" y="3730752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92240" y="373075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6803136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Инвентарь</a:t>
            </a:r>
            <a:endParaRPr lang="en-US" sz="2000" dirty="0"/>
          </a:p>
        </p:txBody>
      </p:sp>
      <p:sp>
        <p:nvSpPr>
          <p:cNvPr id="51" name="Text 48"/>
          <p:cNvSpPr/>
          <p:nvPr/>
        </p:nvSpPr>
        <p:spPr>
          <a:xfrm>
            <a:off x="8229600" y="37124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Drag-and-drop, стаки, горячая панель — пройдено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6492240" y="4224528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492240" y="422452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6803136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endParaRPr lang="en-US" sz="2000" dirty="0"/>
          </a:p>
        </p:txBody>
      </p:sp>
      <p:sp>
        <p:nvSpPr>
          <p:cNvPr id="55" name="Text 52"/>
          <p:cNvSpPr/>
          <p:nvPr/>
        </p:nvSpPr>
        <p:spPr>
          <a:xfrm>
            <a:off x="822960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рецепты в разных позициях сетки — пройдено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6492240" y="4718304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492240" y="471830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Text 55"/>
          <p:cNvSpPr/>
          <p:nvPr/>
        </p:nvSpPr>
        <p:spPr>
          <a:xfrm>
            <a:off x="6803136" y="47000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Добыча</a:t>
            </a:r>
            <a:endParaRPr lang="en-US" sz="2000" dirty="0"/>
          </a:p>
        </p:txBody>
      </p:sp>
      <p:sp>
        <p:nvSpPr>
          <p:cNvPr id="59" name="Text 56"/>
          <p:cNvSpPr/>
          <p:nvPr/>
        </p:nvSpPr>
        <p:spPr>
          <a:xfrm>
            <a:off x="8229600" y="47000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Стадии роста, урон инструментами — пройдено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6492240" y="5212080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492240" y="52120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6803136" y="5193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суток</a:t>
            </a:r>
            <a:endParaRPr lang="en-US" sz="2000" dirty="0"/>
          </a:p>
        </p:txBody>
      </p:sp>
      <p:sp>
        <p:nvSpPr>
          <p:cNvPr id="63" name="Text 60"/>
          <p:cNvSpPr/>
          <p:nvPr/>
        </p:nvSpPr>
        <p:spPr>
          <a:xfrm>
            <a:off x="8229600" y="5193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Фазы, Light2D, обновление UI — пройдено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6492240" y="5705856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492240" y="570585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6" name="Text 63"/>
          <p:cNvSpPr/>
          <p:nvPr/>
        </p:nvSpPr>
        <p:spPr>
          <a:xfrm>
            <a:off x="6803136" y="5687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</a:t>
            </a:r>
            <a:endParaRPr lang="en-US" sz="2000" dirty="0"/>
          </a:p>
        </p:txBody>
      </p:sp>
      <p:sp>
        <p:nvSpPr>
          <p:cNvPr id="67" name="Text 64"/>
          <p:cNvSpPr/>
          <p:nvPr/>
        </p:nvSpPr>
        <p:spPr>
          <a:xfrm>
            <a:off x="8229600" y="5687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Корректность, устойчивость к сбоям — пройдено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74320"/>
            <a:ext cx="73152" cy="8229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Экономическое обоснование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685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Трудоёмкость, себестоимость и рыночный анализ</a:t>
            </a:r>
            <a:endParaRPr lang="en-US" sz="1300" dirty="0">
              <a:solidFill>
                <a:srgbClr val="64748B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365760" y="1143000"/>
            <a:ext cx="265176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216152"/>
            <a:ext cx="265176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365760" y="1901952"/>
            <a:ext cx="26517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часов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трудоёмкость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0" y="1143000"/>
            <a:ext cx="2651760" cy="1371600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1216152"/>
            <a:ext cx="265176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126 573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3200400" y="1901952"/>
            <a:ext cx="26517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руб.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себестоимость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35040" y="1143000"/>
            <a:ext cx="2651760" cy="1371600"/>
          </a:xfrm>
          <a:prstGeom prst="rect">
            <a:avLst/>
          </a:prstGeom>
          <a:solidFill>
            <a:srgbClr val="38A89D"/>
          </a:solidFill>
          <a:ln w="12700">
            <a:solidFill>
              <a:srgbClr val="38A89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216152"/>
            <a:ext cx="265176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₽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035040" y="1901952"/>
            <a:ext cx="265176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плановая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продажи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869680" y="1143000"/>
            <a:ext cx="27432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1216152"/>
            <a:ext cx="274320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449%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8869680" y="1901952"/>
            <a:ext cx="2743200" cy="521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рентабельность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(оптимист.)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65760" y="2697480"/>
            <a:ext cx="42062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48640" y="2788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затрат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4864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Заработная плата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65176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90 000 ₽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29184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71,2%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48640" y="3502152"/>
            <a:ext cx="3657600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3931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Страховые взносы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651760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27 000 ₽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291840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21,4%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48640" y="4233672"/>
            <a:ext cx="1097280" cy="164592"/>
          </a:xfrm>
          <a:prstGeom prst="rect">
            <a:avLst/>
          </a:prstGeom>
          <a:solidFill>
            <a:srgbClr val="2C4A8F"/>
          </a:solidFill>
          <a:ln w="12700">
            <a:solidFill>
              <a:srgbClr val="2C4A8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4663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Амортизация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265176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8 999 ₽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329184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7,1%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48640" y="4965192"/>
            <a:ext cx="365760" cy="16459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Электроэнергия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2651760" y="5394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574 ₽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3291840" y="5394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0,3%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5696712"/>
            <a:ext cx="45720" cy="164592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46320" y="2697480"/>
            <a:ext cx="67665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029200" y="2788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Рыночный анализ и сценарии продаж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5029200" y="3182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</a:t>
            </a:r>
            <a:endParaRPr lang="en-US" dirty="0"/>
          </a:p>
        </p:txBody>
      </p:sp>
      <p:sp>
        <p:nvSpPr>
          <p:cNvPr id="39" name="Shape 36"/>
          <p:cNvSpPr/>
          <p:nvPr/>
        </p:nvSpPr>
        <p:spPr>
          <a:xfrm>
            <a:off x="5029200" y="3520440"/>
            <a:ext cx="301752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166360" y="3538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Stardew Valley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400800" y="3538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₽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7178040" y="35387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млн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5029200" y="3886200"/>
            <a:ext cx="301752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66360" y="3904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400800" y="3904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349 ₽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7178040" y="3904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млн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5029200" y="4251960"/>
            <a:ext cx="3017520" cy="310896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166360" y="4270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Keeper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400800" y="4270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₽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7178040" y="42702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млн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5029200" y="4617720"/>
            <a:ext cx="3017520" cy="310896"/>
          </a:xfrm>
          <a:prstGeom prst="rect">
            <a:avLst/>
          </a:prstGeom>
          <a:solidFill>
            <a:srgbClr val="1E2761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166360" y="4636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Мой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проект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6400800" y="4636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₽</a:t>
            </a:r>
            <a:endParaRPr lang="en-US" sz="1400" dirty="0"/>
          </a:p>
        </p:txBody>
      </p:sp>
      <p:sp>
        <p:nvSpPr>
          <p:cNvPr id="54" name="Text 51"/>
          <p:cNvSpPr/>
          <p:nvPr/>
        </p:nvSpPr>
        <p:spPr>
          <a:xfrm>
            <a:off x="7178040" y="4636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8275320" y="31821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продаж</a:t>
            </a:r>
            <a:endParaRPr lang="en-US" dirty="0"/>
          </a:p>
        </p:txBody>
      </p:sp>
      <p:sp>
        <p:nvSpPr>
          <p:cNvPr id="56" name="Shape 53"/>
          <p:cNvSpPr/>
          <p:nvPr/>
        </p:nvSpPr>
        <p:spPr>
          <a:xfrm>
            <a:off x="8275320" y="3520440"/>
            <a:ext cx="3200400" cy="1371600"/>
          </a:xfrm>
          <a:prstGeom prst="rect">
            <a:avLst/>
          </a:prstGeom>
          <a:solidFill>
            <a:srgbClr val="EEF2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412480" y="3611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8412480" y="3823213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000 копий</a:t>
            </a: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8412480" y="43205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Чистая: 696 500 ₽</a:t>
            </a: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8412480" y="4453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09728"/>
            <a:ext cx="594360" cy="594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256032"/>
            <a:ext cx="73152" cy="6858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3000" dirty="0">
              <a:solidFill>
                <a:srgbClr val="1E2761"/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548640" y="731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поставленные задачи выполнены. Проект готов к публикации.</a:t>
            </a:r>
            <a:endParaRPr lang="en-US" sz="1300" dirty="0">
              <a:solidFill>
                <a:srgbClr val="64748B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365760" y="1234440"/>
            <a:ext cx="5577840" cy="21488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234440"/>
            <a:ext cx="557784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1444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Реализованные системы</a:t>
            </a:r>
            <a:endParaRPr lang="en-US" sz="2000" dirty="0">
              <a:solidFill>
                <a:srgbClr val="1E276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" y="19202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Инвентарь, </a:t>
            </a:r>
            <a:r>
              <a:rPr lang="ru-RU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предметов</a:t>
            </a: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3×3, добыча ресурсов, время суток, ИИ животных, боевая система, диалоги, сохранение, UI/UX — полный игровой цикл.</a:t>
            </a:r>
            <a:endParaRPr lang="en-US" sz="2000" dirty="0">
              <a:solidFill>
                <a:srgbClr val="1E276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6172200" y="1234440"/>
            <a:ext cx="5577840" cy="21488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72200" y="1234440"/>
            <a:ext cx="557784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1417320"/>
            <a:ext cx="457200" cy="4572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0" y="1444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Образовательная ценность</a:t>
            </a:r>
            <a:endParaRPr lang="en-US" sz="2000" dirty="0">
              <a:solidFill>
                <a:srgbClr val="1E276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55080" y="192024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Приобретены компетенции Unity-разработчика. Практический опыт полного цикла разработки коммерческого продукта.</a:t>
            </a:r>
            <a:endParaRPr lang="en-US" sz="2000" dirty="0">
              <a:solidFill>
                <a:srgbClr val="1E2761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65760" y="3611880"/>
            <a:ext cx="5577840" cy="21488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3611880"/>
            <a:ext cx="557784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" y="3794760"/>
            <a:ext cx="457200" cy="4572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51560" y="3822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Коммерческий потенциал</a:t>
            </a:r>
            <a:endParaRPr lang="en-US" sz="2000" dirty="0">
              <a:solidFill>
                <a:srgbClr val="1E2761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548640" y="42976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к публикации на Steam и других </a:t>
            </a:r>
            <a:r>
              <a:rPr lang="en-US" sz="2000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платформах</a:t>
            </a: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</a:t>
            </a:r>
            <a:endParaRPr lang="en-US" sz="2000" dirty="0">
              <a:solidFill>
                <a:srgbClr val="1E2761"/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172200" y="3611880"/>
            <a:ext cx="5577840" cy="2148840"/>
          </a:xfrm>
          <a:prstGeom prst="rect">
            <a:avLst/>
          </a:prstGeom>
          <a:solidFill>
            <a:srgbClr val="FFFFFF">
              <a:alpha val="8000"/>
            </a:srgbClr>
          </a:solidFill>
          <a:ln w="63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72200" y="3611880"/>
            <a:ext cx="557784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794760"/>
            <a:ext cx="457200" cy="45720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0" y="38221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Экономическая эффективность</a:t>
            </a:r>
            <a:endParaRPr lang="en-US" sz="2000" dirty="0">
              <a:solidFill>
                <a:srgbClr val="1E276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6355080" y="42976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Рентабельность от 10% (пессимистичный, 1 000 копий) до 449% (оптимистичный, 5 000 копий).</a:t>
            </a:r>
            <a:endParaRPr lang="en-US" sz="2000" dirty="0">
              <a:solidFill>
                <a:srgbClr val="1E276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20">
      <a:dk1>
        <a:sysClr val="windowText" lastClr="000000"/>
      </a:dk1>
      <a:lt1>
        <a:sysClr val="window" lastClr="FFFFFF"/>
      </a:lt1>
      <a:dk2>
        <a:srgbClr val="FFFFFF"/>
      </a:dk2>
      <a:lt2>
        <a:srgbClr val="FFC000"/>
      </a:lt2>
      <a:accent1>
        <a:srgbClr val="F2F2F2"/>
      </a:accent1>
      <a:accent2>
        <a:srgbClr val="FFFFFF"/>
      </a:accent2>
      <a:accent3>
        <a:srgbClr val="FFFFFF"/>
      </a:accent3>
      <a:accent4>
        <a:srgbClr val="217CC0"/>
      </a:accent4>
      <a:accent5>
        <a:srgbClr val="9DCBEE"/>
      </a:accent5>
      <a:accent6>
        <a:srgbClr val="FFFFFF"/>
      </a:accent6>
      <a:hlink>
        <a:srgbClr val="FFFFFF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593</TotalTime>
  <Words>1181</Words>
  <Application>Microsoft Office PowerPoint</Application>
  <PresentationFormat>Широкоэкранный</PresentationFormat>
  <Paragraphs>276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Sans Serif Collection</vt:lpstr>
      <vt:lpstr>Тема Office</vt:lpstr>
      <vt:lpstr>Дипломный проект «Разработка изометрической 2D-игры с системой исследования окружающего мира»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«Тема»</dc:title>
  <dc:creator>Graph</dc:creator>
  <cp:lastModifiedBy>Илья Прохоров</cp:lastModifiedBy>
  <cp:revision>36</cp:revision>
  <dcterms:created xsi:type="dcterms:W3CDTF">2023-05-30T12:01:44Z</dcterms:created>
  <dcterms:modified xsi:type="dcterms:W3CDTF">2026-05-15T12:06:37Z</dcterms:modified>
</cp:coreProperties>
</file>